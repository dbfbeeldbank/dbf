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Merriweather" pitchFamily="2" charset="0"/>
      <p:regular r:id="rId11"/>
      <p:bold r:id="rId12"/>
      <p:italic r:id="rId13"/>
    </p:embeddedFont>
    <p:embeddedFont>
      <p:font typeface="Open Sans" pitchFamily="2" charset="0"/>
      <p:regular r:id="rId14"/>
      <p:bold r:id="rId15"/>
      <p: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_wit_tagline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fotostrook.png"/><Relationship Id="rId3" Type="http://schemas.openxmlformats.org/officeDocument/2006/relationships/image" Target="../media/logo_zwart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beeldmerk_wit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lotdia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OPEN">
    <p:bg>
      <p:bgPr>
        <a:solidFill>
          <a:srgbClr val="2727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evrondiepte (één paar)"/>
          <p:cNvGrpSpPr>
            <a:grpSpLocks noUngrp="1" noMove="1" noResize="1" noRot="1"/>
          </p:cNvGrpSpPr>
          <p:nvPr userDrawn="1"/>
        </p:nvGrpSpPr>
        <p:grpSpPr>
          <a:xfrm>
            <a:off x="8894242" y="-2287143"/>
            <a:ext cx="4100268" cy="11432286"/>
            <a:chOff x="8894242" y="-2287143"/>
            <a:chExt cx="4100268" cy="11432286"/>
          </a:xfrm>
        </p:grpSpPr>
        <p:sp>
          <p:nvSpPr>
            <p:cNvPr id="2" name="Chevron achter"/>
            <p:cNvSpPr/>
            <p:nvPr userDrawn="1"/>
          </p:nvSpPr>
          <p:spPr>
            <a:xfrm>
              <a:off x="8894242" y="-2287143"/>
              <a:ext cx="3852498" cy="11432286"/>
            </a:xfrm>
            <a:custGeom>
              <a:avLst/>
              <a:gdLst/>
              <a:ahLst/>
              <a:cxnLst/>
              <a:rect l="0" t="0" r="r" b="b"/>
              <a:pathLst>
                <a:path w="3852498" h="11432286">
                  <a:moveTo>
                    <a:pt x="0" y="0"/>
                  </a:moveTo>
                  <a:lnTo>
                    <a:pt x="1757870" y="5716143"/>
                  </a:lnTo>
                  <a:lnTo>
                    <a:pt x="0" y="11432286"/>
                  </a:lnTo>
                  <a:lnTo>
                    <a:pt x="552281" y="11432286"/>
                  </a:lnTo>
                  <a:lnTo>
                    <a:pt x="3852498" y="5716143"/>
                  </a:lnTo>
                  <a:lnTo>
                    <a:pt x="552281" y="0"/>
                  </a:lnTo>
                  <a:close/>
                </a:path>
              </a:pathLst>
            </a:custGeom>
            <a:solidFill>
              <a:srgbClr val="30306A"/>
            </a:solidFill>
            <a:ln>
              <a:noFill/>
            </a:ln>
          </p:spPr>
        </p:sp>
        <p:sp>
          <p:nvSpPr>
            <p:cNvPr id="3" name="Chevron voor"/>
            <p:cNvSpPr/>
            <p:nvPr userDrawn="1"/>
          </p:nvSpPr>
          <p:spPr>
            <a:xfrm>
              <a:off x="10170423" y="-761238"/>
              <a:ext cx="2824087" cy="8380476"/>
            </a:xfrm>
            <a:custGeom>
              <a:avLst/>
              <a:gdLst/>
              <a:ahLst/>
              <a:cxnLst/>
              <a:rect l="0" t="0" r="r" b="b"/>
              <a:pathLst>
                <a:path w="2824087" h="8380476">
                  <a:moveTo>
                    <a:pt x="0" y="0"/>
                  </a:moveTo>
                  <a:lnTo>
                    <a:pt x="1288613" y="4190238"/>
                  </a:lnTo>
                  <a:lnTo>
                    <a:pt x="0" y="8380476"/>
                  </a:lnTo>
                  <a:lnTo>
                    <a:pt x="404852" y="8380476"/>
                  </a:lnTo>
                  <a:lnTo>
                    <a:pt x="2824087" y="4190238"/>
                  </a:lnTo>
                  <a:lnTo>
                    <a:pt x="404852" y="0"/>
                  </a:lnTo>
                  <a:close/>
                </a:path>
              </a:pathLst>
            </a:custGeom>
            <a:solidFill>
              <a:srgbClr val="34346F"/>
            </a:solidFill>
            <a:ln>
              <a:noFill/>
            </a:ln>
          </p:spPr>
        </p:sp>
      </p:grpSp>
      <p:sp>
        <p:nvSpPr>
          <p:cNvPr id="5" name="Titel"/>
          <p:cNvSpPr>
            <a:spLocks noGrp="1"/>
          </p:cNvSpPr>
          <p:nvPr>
            <p:ph type="ctrTitle" hasCustomPrompt="1"/>
          </p:nvPr>
        </p:nvSpPr>
        <p:spPr>
          <a:xfrm>
            <a:off x="841248" y="1325880"/>
            <a:ext cx="6309360" cy="2240280"/>
          </a:xfrm>
        </p:spPr>
        <p:txBody>
          <a:bodyPr vert="horz" wrap="square" lIns="0" tIns="0" rIns="0" bIns="0" anchor="b" rtlCol="0">
            <a:normAutofit/>
          </a:bodyPr>
          <a:lstStyle>
            <a:lvl1pPr algn="l" marL="0" indent="0">
              <a:buNone/>
              <a:defRPr sz="4000" b="0">
                <a:solidFill>
                  <a:srgbClr val="FFFFFF"/>
                </a:solidFill>
                <a:latin typeface="Merriweather"/>
                <a:ea typeface="Merriweather"/>
                <a:cs typeface="Merriweather"/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6" name="Gouden lijn"/>
          <p:cNvSpPr/>
          <p:nvPr userDrawn="1"/>
        </p:nvSpPr>
        <p:spPr>
          <a:xfrm>
            <a:off x="841248" y="3703320"/>
            <a:ext cx="914400" cy="32004"/>
          </a:xfrm>
          <a:prstGeom prst="rect">
            <a:avLst/>
          </a:prstGeom>
          <a:solidFill>
            <a:srgbClr val="DDB85E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7" name="Ondertitel"/>
          <p:cNvSpPr>
            <a:spLocks noGrp="1"/>
          </p:cNvSpPr>
          <p:nvPr>
            <p:ph type="subTitle" idx="1" hasCustomPrompt="1"/>
          </p:nvPr>
        </p:nvSpPr>
        <p:spPr>
          <a:xfrm>
            <a:off x="841248" y="3858768"/>
            <a:ext cx="6309360" cy="77724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sz="1800" b="0">
                <a:solidFill>
                  <a:srgbClr val="DDB85E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nl-NL" dirty="0"/>
              <a:t>Ondertitel of kernvraag</a:t>
            </a:r>
          </a:p>
        </p:txBody>
      </p:sp>
      <p:sp>
        <p:nvSpPr>
          <p:cNvPr id="8" name="Metaregel"/>
          <p:cNvSpPr>
            <a:spLocks noGrp="1"/>
          </p:cNvSpPr>
          <p:nvPr>
            <p:ph type="body" idx="13" hasCustomPrompt="1"/>
          </p:nvPr>
        </p:nvSpPr>
        <p:spPr>
          <a:xfrm>
            <a:off x="841248" y="4709160"/>
            <a:ext cx="6309360" cy="54864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nl-NL" dirty="0"/>
              <a:t>Opdrachtgever  ·  datum</a:t>
            </a:r>
          </a:p>
        </p:txBody>
      </p:sp>
      <p:pic>
        <p:nvPicPr>
          <p:cNvPr id="9" name="Logo wit met tagline" descr="De Betekenisfabrie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248" y="5897880"/>
            <a:ext cx="1537181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strook" descr="Fotostrook: kathedraaldetail met blauwe luch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31520" cy="6565392"/>
          </a:xfrm>
          <a:prstGeom prst="rect">
            <a:avLst/>
          </a:prstGeom>
        </p:spPr>
      </p:pic>
      <p:sp>
        <p:nvSpPr>
          <p:cNvPr id="3" name="Footerbalk"/>
          <p:cNvSpPr/>
          <p:nvPr userDrawn="1"/>
        </p:nvSpPr>
        <p:spPr>
          <a:xfrm>
            <a:off x="0" y="6565392"/>
            <a:ext cx="8549640" cy="292608"/>
          </a:xfrm>
          <a:prstGeom prst="rect">
            <a:avLst/>
          </a:prstGeom>
          <a:solidFill>
            <a:srgbClr val="27275B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pic>
        <p:nvPicPr>
          <p:cNvPr id="4" name="Logo zwart" descr="De Betekenisfabriek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6728" y="6071616"/>
            <a:ext cx="1188720" cy="353558"/>
          </a:xfrm>
          <a:prstGeom prst="rect">
            <a:avLst/>
          </a:prstGeom>
        </p:spPr>
      </p:pic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1481328" y="960120"/>
            <a:ext cx="10104120" cy="77724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sz="2600" b="0">
                <a:solidFill>
                  <a:srgbClr val="27275B"/>
                </a:solidFill>
                <a:latin typeface="Merriweather"/>
                <a:ea typeface="Merriweather"/>
                <a:cs typeface="Merriweather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6" name="Tekst"/>
          <p:cNvSpPr>
            <a:spLocks noGrp="1"/>
          </p:cNvSpPr>
          <p:nvPr>
            <p:ph type="body" idx="1" hasCustomPrompt="1"/>
          </p:nvPr>
        </p:nvSpPr>
        <p:spPr>
          <a:xfrm>
            <a:off x="1481328" y="1965960"/>
            <a:ext cx="10104120" cy="3840480"/>
          </a:xfrm>
        </p:spPr>
        <p:txBody>
          <a:bodyPr vert="horz" wrap="square" lIns="0" tIns="0" rIns="0" bIns="0" anchor="t" rtlCol="0">
            <a:normAutofit/>
          </a:bodyPr>
          <a:lstStyle>
            <a:lvl1pPr algn="l">
              <a:defRPr b="0"/>
            </a:lvl1pPr>
          </a:lstStyle>
          <a:p>
            <a:r>
              <a:rPr lang="nl-NL" dirty="0"/>
              <a:t>Tekst</a:t>
            </a:r>
          </a:p>
        </p:txBody>
      </p:sp>
      <p:sp>
        <p:nvSpPr>
          <p:cNvPr id="7" name="Voetregel"/>
          <p:cNvSpPr>
            <a:spLocks noGrp="1"/>
          </p:cNvSpPr>
          <p:nvPr>
            <p:ph type="ftr" sz="quarter" idx="3"/>
          </p:nvPr>
        </p:nvSpPr>
        <p:spPr>
          <a:xfrm>
            <a:off x="1481328" y="6208776"/>
            <a:ext cx="7315200" cy="256032"/>
          </a:xfrm>
        </p:spPr>
        <p:txBody>
          <a:bodyPr vert="horz" lIns="0" tIns="0" rIns="0" bIns="0" anchor="ctr"/>
          <a:lstStyle>
            <a:lvl1pPr algn="l">
              <a:defRPr sz="900" b="0">
                <a:solidFill>
                  <a:srgbClr val="46464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endParaRPr lang="nl-NL"/>
          </a:p>
        </p:txBody>
      </p:sp>
      <p:sp>
        <p:nvSpPr>
          <p:cNvPr id="8" name="Paginanummer"/>
          <p:cNvSpPr>
            <a:spLocks noGrp="1"/>
          </p:cNvSpPr>
          <p:nvPr>
            <p:ph type="sldNum" sz="quarter" idx="4"/>
          </p:nvPr>
        </p:nvSpPr>
        <p:spPr>
          <a:xfrm>
            <a:off x="7818120" y="6583680"/>
            <a:ext cx="548640" cy="256032"/>
          </a:xfrm>
        </p:spPr>
        <p:txBody>
          <a:bodyPr vert="horz" lIns="0" tIns="0" rIns="0" bIns="0" anchor="ctr"/>
          <a:lstStyle>
            <a:lvl1pPr algn="r">
              <a:defRPr sz="9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fld id="{B6F15528-21DE-4FAA-801E-634DDDAF4B2B}" type="slidenum">
              <a:rPr lang="nl-NL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Pr>
        <a:solidFill>
          <a:srgbClr val="2727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ofdstuknummer"/>
          <p:cNvSpPr>
            <a:spLocks noGrp="1"/>
          </p:cNvSpPr>
          <p:nvPr>
            <p:ph type="body" idx="13" hasCustomPrompt="1"/>
          </p:nvPr>
        </p:nvSpPr>
        <p:spPr>
          <a:xfrm>
            <a:off x="1481328" y="2148840"/>
            <a:ext cx="2743200" cy="365760"/>
          </a:xfrm>
        </p:spPr>
        <p:txBody>
          <a:bodyPr vert="horz" wrap="square" lIns="0" tIns="0" rIns="0" bIns="0" anchor="b" rtlCol="0">
            <a:normAutofit/>
          </a:bodyPr>
          <a:lstStyle>
            <a:lvl1pPr algn="l" marL="0" indent="0">
              <a:buNone/>
              <a:defRPr sz="1600" b="1">
                <a:solidFill>
                  <a:srgbClr val="DDB85E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nl-NL" dirty="0"/>
              <a:t>01</a:t>
            </a:r>
          </a:p>
        </p:txBody>
      </p:sp>
      <p:sp>
        <p:nvSpPr>
          <p:cNvPr id="3" name="Gouden lijn"/>
          <p:cNvSpPr/>
          <p:nvPr userDrawn="1"/>
        </p:nvSpPr>
        <p:spPr>
          <a:xfrm>
            <a:off x="1481328" y="2697480"/>
            <a:ext cx="548640" cy="32004"/>
          </a:xfrm>
          <a:prstGeom prst="rect">
            <a:avLst/>
          </a:prstGeom>
          <a:solidFill>
            <a:srgbClr val="DDB85E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" name="Titel"/>
          <p:cNvSpPr>
            <a:spLocks noGrp="1"/>
          </p:cNvSpPr>
          <p:nvPr>
            <p:ph type="title" hasCustomPrompt="1"/>
          </p:nvPr>
        </p:nvSpPr>
        <p:spPr>
          <a:xfrm>
            <a:off x="1481328" y="2926080"/>
            <a:ext cx="9144000" cy="100584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sz="3600" b="0">
                <a:solidFill>
                  <a:srgbClr val="FFFFFF"/>
                </a:solidFill>
                <a:latin typeface="Merriweather"/>
                <a:ea typeface="Merriweather"/>
                <a:cs typeface="Merriweather"/>
              </a:defRPr>
            </a:lvl1pPr>
          </a:lstStyle>
          <a:p>
            <a:r>
              <a:rPr lang="nl-NL" dirty="0"/>
              <a:t>Titel van het hoofdstuk</a:t>
            </a:r>
          </a:p>
        </p:txBody>
      </p:sp>
      <p:sp>
        <p:nvSpPr>
          <p:cNvPr id="5" name="Toelichting"/>
          <p:cNvSpPr>
            <a:spLocks noGrp="1"/>
          </p:cNvSpPr>
          <p:nvPr>
            <p:ph type="body" idx="1" hasCustomPrompt="1"/>
          </p:nvPr>
        </p:nvSpPr>
        <p:spPr>
          <a:xfrm>
            <a:off x="1481328" y="4069080"/>
            <a:ext cx="8229600" cy="91440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sz="18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nl-NL" dirty="0"/>
              <a:t>Eén zin over wat dit deel laat zien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userDrawn="1">
  <p:cSld name="ACCENT">
    <p:bg>
      <p:bgPr>
        <a:solidFill>
          <a:srgbClr val="2727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>
          <a:xfrm>
            <a:off x="1481328" y="960120"/>
            <a:ext cx="10104120" cy="77724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sz="2600" b="0">
                <a:solidFill>
                  <a:srgbClr val="FFFFFF"/>
                </a:solidFill>
                <a:latin typeface="Merriweather"/>
                <a:ea typeface="Merriweather"/>
                <a:cs typeface="Merriweather"/>
              </a:defRPr>
            </a:lvl1pPr>
          </a:lstStyle>
          <a:p>
            <a:r>
              <a:rPr lang="nl-NL" dirty="0"/>
              <a:t>Het scharniermoment</a:t>
            </a:r>
          </a:p>
        </p:txBody>
      </p:sp>
      <p:sp>
        <p:nvSpPr>
          <p:cNvPr id="3" name="Tekst"/>
          <p:cNvSpPr>
            <a:spLocks noGrp="1"/>
          </p:cNvSpPr>
          <p:nvPr>
            <p:ph type="body" idx="1" hasCustomPrompt="1"/>
          </p:nvPr>
        </p:nvSpPr>
        <p:spPr>
          <a:xfrm>
            <a:off x="1481328" y="1965960"/>
            <a:ext cx="10104120" cy="3840480"/>
          </a:xfrm>
        </p:spPr>
        <p:txBody>
          <a:bodyPr vert="horz" wrap="square" lIns="0" tIns="0" rIns="0" bIns="0" anchor="t" rtlCol="0">
            <a:normAutofit/>
          </a:bodyPr>
          <a:lstStyle>
            <a:lvl1pPr algn="l">
              <a:buClr>
                <a:srgbClr val="DDB85E"/>
              </a:buClr>
              <a:defRPr sz="16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nl-NL" dirty="0"/>
              <a:t>Tekst</a:t>
            </a:r>
          </a:p>
        </p:txBody>
      </p:sp>
      <p:pic>
        <p:nvPicPr>
          <p:cNvPr id="4" name="Beeldmerk wit" descr="Beeldmerk De Betekenisfabrie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66632" y="6172200"/>
            <a:ext cx="318816" cy="365760"/>
          </a:xfrm>
          <a:prstGeom prst="rect">
            <a:avLst/>
          </a:prstGeom>
        </p:spPr>
      </p:pic>
      <p:sp>
        <p:nvSpPr>
          <p:cNvPr id="5" name="Voetregel"/>
          <p:cNvSpPr>
            <a:spLocks noGrp="1"/>
          </p:cNvSpPr>
          <p:nvPr>
            <p:ph type="ftr" sz="quarter" idx="3"/>
          </p:nvPr>
        </p:nvSpPr>
        <p:spPr>
          <a:xfrm>
            <a:off x="1481328" y="6227064"/>
            <a:ext cx="7315200" cy="256032"/>
          </a:xfrm>
        </p:spPr>
        <p:txBody>
          <a:bodyPr vert="horz" lIns="0" tIns="0" rIns="0" bIns="0" anchor="ctr"/>
          <a:lstStyle>
            <a:lvl1pPr algn="l">
              <a:defRPr sz="900" b="0">
                <a:solidFill>
                  <a:srgbClr val="BEBECE"/>
                </a:solidFill>
                <a:latin typeface="Open Sans"/>
                <a:ea typeface="Open Sans"/>
                <a:cs typeface="Open Sans"/>
              </a:defRPr>
            </a:lvl1pPr>
          </a:lstStyle>
          <a:p>
            <a:endParaRPr lang="nl-NL"/>
          </a:p>
        </p:txBody>
      </p:sp>
      <p:sp>
        <p:nvSpPr>
          <p:cNvPr id="6" name="Paginanummer"/>
          <p:cNvSpPr>
            <a:spLocks noGrp="1"/>
          </p:cNvSpPr>
          <p:nvPr>
            <p:ph type="sldNum" sz="quarter" idx="4"/>
          </p:nvPr>
        </p:nvSpPr>
        <p:spPr>
          <a:xfrm>
            <a:off x="10241280" y="6227064"/>
            <a:ext cx="822960" cy="256032"/>
          </a:xfrm>
        </p:spPr>
        <p:txBody>
          <a:bodyPr vert="horz" lIns="0" tIns="0" rIns="0" bIns="0" anchor="ctr"/>
          <a:lstStyle>
            <a:lvl1pPr algn="r">
              <a:defRPr sz="900" b="0">
                <a:solidFill>
                  <a:srgbClr val="BEBECE"/>
                </a:solidFill>
                <a:latin typeface="Open Sans"/>
                <a:ea typeface="Open Sans"/>
                <a:cs typeface="Open Sans"/>
              </a:defRPr>
            </a:lvl1pPr>
          </a:lstStyle>
          <a:p>
            <a:fld id="{B6F15528-21DE-4FAA-801E-634DDDAF4B2B}" type="slidenum">
              <a:rPr lang="nl-NL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userDrawn="1">
  <p:cSld name="SLO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1481328" y="960120"/>
            <a:ext cx="10104120" cy="777240"/>
          </a:xfrm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buNone/>
              <a:defRPr b="0"/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3" name="Tekst"/>
          <p:cNvSpPr>
            <a:spLocks noGrp="1"/>
          </p:cNvSpPr>
          <p:nvPr>
            <p:ph type="body" idx="1"/>
          </p:nvPr>
        </p:nvSpPr>
        <p:spPr>
          <a:xfrm>
            <a:off x="1481328" y="1965960"/>
            <a:ext cx="10104120" cy="3840480"/>
          </a:xfrm>
        </p:spPr>
        <p:txBody>
          <a:bodyPr vert="horz" wrap="square" lIns="0" tIns="0" rIns="0" bIns="0" anchor="t" rtlCol="0">
            <a:normAutofit/>
          </a:bodyPr>
          <a:lstStyle>
            <a:lvl1pPr algn="l">
              <a:defRPr b="0"/>
            </a:lvl1pPr>
          </a:lstStyle>
          <a:p>
            <a:r>
              <a:rPr lang="nl-NL" dirty="0"/>
              <a:t>Tekst</a:t>
            </a:r>
          </a:p>
        </p:txBody>
      </p:sp>
      <p:sp>
        <p:nvSpPr>
          <p:cNvPr id="4" name="Voetregel"/>
          <p:cNvSpPr>
            <a:spLocks noGrp="1"/>
          </p:cNvSpPr>
          <p:nvPr>
            <p:ph type="ftr" sz="quarter" idx="3"/>
          </p:nvPr>
        </p:nvSpPr>
        <p:spPr>
          <a:xfrm>
            <a:off x="1481328" y="6208776"/>
            <a:ext cx="7315200" cy="256032"/>
          </a:xfrm>
        </p:spPr>
        <p:txBody>
          <a:bodyPr vert="horz" lIns="0" tIns="0" rIns="0" bIns="0" anchor="ctr"/>
          <a:lstStyle>
            <a:lvl1pPr algn="l">
              <a:defRPr sz="900" b="0">
                <a:solidFill>
                  <a:srgbClr val="46464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endParaRPr lang="nl-NL"/>
          </a:p>
        </p:txBody>
      </p:sp>
      <p:sp>
        <p:nvSpPr>
          <p:cNvPr id="5" name="Paginanummer"/>
          <p:cNvSpPr>
            <a:spLocks noGrp="1"/>
          </p:cNvSpPr>
          <p:nvPr>
            <p:ph type="sldNum" sz="quarter" idx="4"/>
          </p:nvPr>
        </p:nvSpPr>
        <p:spPr>
          <a:xfrm>
            <a:off x="7818120" y="6583680"/>
            <a:ext cx="548640" cy="256032"/>
          </a:xfrm>
        </p:spPr>
        <p:txBody>
          <a:bodyPr vert="horz" lIns="0" tIns="0" rIns="0" bIns="0" anchor="ctr"/>
          <a:lstStyle>
            <a:lvl1pPr algn="r">
              <a:defRPr sz="9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fld id="{B6F15528-21DE-4FAA-801E-634DDDAF4B2B}" type="slidenum">
              <a:rPr lang="nl-NL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0025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indent="-285750" algn="l" defTabSz="914400" rtl="0" eaLnBrk="1" latinLnBrk="0" hangingPunct="1">
        <a:lnSpc>
          <a:spcPct val="100000"/>
        </a:lnSpc>
        <a:spcBef>
          <a:spcPts val="600"/>
        </a:spcBef>
        <a:buClr>
          <a:srgbClr val="27275B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Strategie die richting geeft</a:t>
            </a:r>
          </a:p>
        </p:txBody>
      </p:sp>
      <p:sp>
        <p:nvSpPr>
          <p:cNvPr id="3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Voorbeeldpresentatie voor de huisstijlgids</a:t>
            </a:r>
          </a:p>
        </p:txBody>
      </p:sp>
      <p:sp>
        <p:nvSpPr>
          <p:cNvPr id="4" name="body 1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nl-NL" dirty="0"/>
              <a:t>Opdrachtgever  ·  concept 22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1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nl-NL" dirty="0"/>
              <a:t>01</a:t>
            </a:r>
          </a:p>
        </p:txBody>
      </p:sp>
      <p:sp>
        <p:nvSpPr>
          <p:cNvPr id="3" name="title 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 patroon naar praktijk</a:t>
            </a:r>
          </a:p>
        </p:txBody>
      </p:sp>
      <p:sp>
        <p:nvSpPr>
          <p:cNvPr id="4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Hoe de bouwstenen samenkomen in een presentatie.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Drie bouwstenen die het geheel dragen</a:t>
            </a:r>
          </a:p>
        </p:txBody>
      </p:sp>
      <p:sp>
        <p:nvSpPr>
          <p:cNvPr id="11" name="body 1"/>
          <p:cNvSpPr>
            <a:spLocks noGrp="1"/>
          </p:cNvSpPr>
          <p:nvPr>
            <p:ph type="body" idx="1"/>
          </p:nvPr>
        </p:nvSpPr>
        <p:spPr>
          <a:xfrm>
            <a:off x="1481328" y="1965960"/>
            <a:ext cx="5715000" cy="3840480"/>
          </a:xfrm>
        </p:spPr>
        <p:txBody>
          <a:bodyPr/>
          <a:lstStyle/>
          <a:p>
            <a:r>
              <a:rPr lang="nl-NL" dirty="0"/>
              <a:t>Eén vorm: de chevron is breder en opener, en past als los teken, in het patroon en naast het beeldmerk.</a:t>
            </a:r>
          </a:p>
          <a:p>
            <a:r>
              <a:rPr lang="nl-NL" dirty="0"/>
              <a:t>Eén raster: twee chevrons op elke rand vormen samen een zeshoek; drie op een knooppunt vormen een ster.</a:t>
            </a:r>
          </a:p>
          <a:p>
            <a:r>
              <a:rPr lang="nl-NL" dirty="0"/>
              <a:t>Eén slot: op de laatste dia staat het beeldmerk in het midden van het patroon.</a:t>
            </a:r>
          </a:p>
        </p:txBody>
      </p:sp>
      <p:sp>
        <p:nvSpPr>
          <p:cNvPr id="2" name="Kaart"/>
          <p:cNvSpPr/>
          <p:nvPr/>
        </p:nvSpPr>
        <p:spPr>
          <a:xfrm>
            <a:off x="7562088" y="1965960"/>
            <a:ext cx="4023360" cy="1828800"/>
          </a:xfrm>
          <a:prstGeom prst="rect">
            <a:avLst/>
          </a:prstGeom>
          <a:solidFill>
            <a:srgbClr val="ECE4D7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hevron kaartkop"/>
          <p:cNvSpPr/>
          <p:nvPr/>
        </p:nvSpPr>
        <p:spPr>
          <a:xfrm>
            <a:off x="7836408" y="2249424"/>
            <a:ext cx="80121" cy="237744"/>
          </a:xfrm>
          <a:custGeom>
            <a:avLst/>
            <a:gdLst/>
            <a:ahLst/>
            <a:cxnLst/>
            <a:rect l="0" t="0" r="r" b="b"/>
            <a:pathLst>
              <a:path w="80121" h="237744">
                <a:moveTo>
                  <a:pt x="0" y="0"/>
                </a:moveTo>
                <a:lnTo>
                  <a:pt x="36550" y="118872"/>
                </a:lnTo>
                <a:lnTo>
                  <a:pt x="0" y="237744"/>
                </a:lnTo>
                <a:lnTo>
                  <a:pt x="11487" y="237744"/>
                </a:lnTo>
                <a:lnTo>
                  <a:pt x="80121" y="118872"/>
                </a:lnTo>
                <a:lnTo>
                  <a:pt x="11487" y="0"/>
                </a:lnTo>
                <a:close/>
              </a:path>
            </a:pathLst>
          </a:custGeom>
          <a:solidFill>
            <a:srgbClr val="DDB85E"/>
          </a:solidFill>
          <a:ln>
            <a:noFill/>
          </a:ln>
        </p:spPr>
      </p:sp>
      <p:sp>
        <p:nvSpPr>
          <p:cNvPr id="4" name="Kaartkop"/>
          <p:cNvSpPr txBox="1"/>
          <p:nvPr/>
        </p:nvSpPr>
        <p:spPr>
          <a:xfrm>
            <a:off x="8044546" y="2221992"/>
            <a:ext cx="326658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nl-NL" sz="1400" b="1" i="0">
                <a:solidFill>
                  <a:srgbClr val="27275B"/>
                </a:solidFill>
                <a:latin typeface="Merriweather"/>
                <a:ea typeface="Merriweather"/>
                <a:cs typeface="Merriweather"/>
              </a:rPr>
              <a:t>Wat dit oplevert</a:t>
            </a:r>
          </a:p>
        </p:txBody>
      </p:sp>
      <p:sp>
        <p:nvSpPr>
          <p:cNvPr id="5" name="Kaarttekst"/>
          <p:cNvSpPr txBox="1"/>
          <p:nvPr/>
        </p:nvSpPr>
        <p:spPr>
          <a:xfrm>
            <a:off x="7836408" y="2651760"/>
            <a:ext cx="34747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nl-NL" sz="1300"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Patroon, chevron en logo komen uit één geometrie.</a:t>
            </a:r>
          </a:p>
        </p:txBody>
      </p:sp>
      <p:sp>
        <p:nvSpPr>
          <p:cNvPr id="6" name="Kaart"/>
          <p:cNvSpPr/>
          <p:nvPr/>
        </p:nvSpPr>
        <p:spPr>
          <a:xfrm>
            <a:off x="7562088" y="3977640"/>
            <a:ext cx="4023360" cy="1828800"/>
          </a:xfrm>
          <a:prstGeom prst="rect">
            <a:avLst/>
          </a:prstGeom>
          <a:solidFill>
            <a:srgbClr val="27275B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7" name="Chevron kaartkop"/>
          <p:cNvSpPr/>
          <p:nvPr/>
        </p:nvSpPr>
        <p:spPr>
          <a:xfrm>
            <a:off x="7836408" y="4261104"/>
            <a:ext cx="80121" cy="237744"/>
          </a:xfrm>
          <a:custGeom>
            <a:avLst/>
            <a:gdLst/>
            <a:ahLst/>
            <a:cxnLst/>
            <a:rect l="0" t="0" r="r" b="b"/>
            <a:pathLst>
              <a:path w="80121" h="237744">
                <a:moveTo>
                  <a:pt x="0" y="0"/>
                </a:moveTo>
                <a:lnTo>
                  <a:pt x="36550" y="118872"/>
                </a:lnTo>
                <a:lnTo>
                  <a:pt x="0" y="237744"/>
                </a:lnTo>
                <a:lnTo>
                  <a:pt x="11487" y="237744"/>
                </a:lnTo>
                <a:lnTo>
                  <a:pt x="80121" y="118872"/>
                </a:lnTo>
                <a:lnTo>
                  <a:pt x="11487" y="0"/>
                </a:lnTo>
                <a:close/>
              </a:path>
            </a:pathLst>
          </a:custGeom>
          <a:solidFill>
            <a:srgbClr val="DDB85E"/>
          </a:solidFill>
          <a:ln>
            <a:noFill/>
          </a:ln>
        </p:spPr>
      </p:sp>
      <p:sp>
        <p:nvSpPr>
          <p:cNvPr id="8" name="Kaartkop"/>
          <p:cNvSpPr txBox="1"/>
          <p:nvPr/>
        </p:nvSpPr>
        <p:spPr>
          <a:xfrm>
            <a:off x="8044546" y="4233672"/>
            <a:ext cx="326658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nl-NL" sz="1400" b="1" i="0">
                <a:solidFill>
                  <a:srgbClr val="FFFFFF"/>
                </a:solidFill>
                <a:latin typeface="Merriweather"/>
                <a:ea typeface="Merriweather"/>
                <a:cs typeface="Merriweather"/>
              </a:rPr>
              <a:t>Kern</a:t>
            </a:r>
          </a:p>
        </p:txBody>
      </p:sp>
      <p:sp>
        <p:nvSpPr>
          <p:cNvPr id="9" name="Kaarttekst"/>
          <p:cNvSpPr txBox="1"/>
          <p:nvPr/>
        </p:nvSpPr>
        <p:spPr>
          <a:xfrm>
            <a:off x="7836408" y="4663440"/>
            <a:ext cx="34747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nl-NL"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Wat je op de eerste dia ziet, keert op de laatste terug.</a:t>
            </a:r>
          </a:p>
        </p:txBody>
      </p:sp>
      <p:sp>
        <p:nvSpPr>
          <p:cNvPr id="12" name="ftr 3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pPr algn="l"/>
            <a:r>
              <a:rPr lang="nl-NL" sz="900" b="0" i="0">
                <a:solidFill>
                  <a:srgbClr val="464646"/>
                </a:solidFill>
                <a:latin typeface="Open Sans"/>
                <a:ea typeface="Open Sans"/>
                <a:cs typeface="Open Sans"/>
              </a:rPr>
              <a:t>Voorbeeldpresentatie huisstijl  ·  22 oktober 2026</a:t>
            </a:r>
          </a:p>
        </p:txBody>
      </p:sp>
      <p:sp>
        <p:nvSpPr>
          <p:cNvPr id="13" name="sldNum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B6F15528-21DE-4FAA-801E-634DDDAF4B2B}" type="slidenum">
              <a:rPr lang="nl-NL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Eén geometrie, van eerste tot laatste dia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 chevrondiepte op de opening en het patroon op de slotdia komen uit dezelfde vorm.</a:t>
            </a:r>
          </a:p>
          <a:p>
            <a:r>
              <a:rPr lang="nl-NL" dirty="0"/>
              <a:t>Daardoor voelt een presentatie als één geheel, ook zonder foto.</a:t>
            </a:r>
          </a:p>
        </p:txBody>
      </p:sp>
      <p:sp>
        <p:nvSpPr>
          <p:cNvPr id="4" name="ftr 3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pPr algn="l"/>
            <a:r>
              <a:rPr lang="nl-NL" sz="900" b="0" i="0">
                <a:solidFill>
                  <a:srgbClr val="BEBECE"/>
                </a:solidFill>
                <a:latin typeface="Open Sans"/>
                <a:ea typeface="Open Sans"/>
                <a:cs typeface="Open Sans"/>
              </a:rPr>
              <a:t>Voorbeeldpresentatie huisstijl  ·  22 oktober 2026</a:t>
            </a:r>
          </a:p>
        </p:txBody>
      </p:sp>
      <p:sp>
        <p:nvSpPr>
          <p:cNvPr id="5" name="sldNum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B6F15528-21DE-4FAA-801E-634DDDAF4B2B}" type="slidenum">
              <a:rPr lang="nl-NL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DBF">
  <a:themeElements>
    <a:clrScheme name="DBF">
      <a:dk1>
        <a:srgbClr val="000000"/>
      </a:dk1>
      <a:lt1>
        <a:srgbClr val="FFFFFF"/>
      </a:lt1>
      <a:dk2>
        <a:srgbClr val="27275B"/>
      </a:dk2>
      <a:lt2>
        <a:srgbClr val="ECE4D7"/>
      </a:lt2>
      <a:accent1>
        <a:srgbClr val="27275B"/>
      </a:accent1>
      <a:accent2>
        <a:srgbClr val="DDB85E"/>
      </a:accent2>
      <a:accent3>
        <a:srgbClr val="FFFCF2"/>
      </a:accent3>
      <a:accent4>
        <a:srgbClr val="AEB0C9"/>
      </a:accent4>
      <a:accent5>
        <a:srgbClr val="464646"/>
      </a:accent5>
      <a:accent6>
        <a:srgbClr val="C1A57B"/>
      </a:accent6>
      <a:hlink>
        <a:srgbClr val="27275B"/>
      </a:hlink>
      <a:folHlink>
        <a:srgbClr val="4E4E79"/>
      </a:folHlink>
    </a:clrScheme>
    <a:fontScheme name="DBF">
      <a:majorFont>
        <a:latin typeface="Merriweath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Breedbeeld</PresentationFormat>
  <Slides>5</Slides>
  <Company>De Betekenisfabriek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DBF voorbeeldpresentatie</dc:title>
  <dc:creator>De Betekenisfabriek</dc:creator>
  <cp:lastModifiedBy>De Betekenisfabriek</cp:lastModifiedBy>
  <cp:revision>1</cp:revision>
  <dcterms:created xsi:type="dcterms:W3CDTF">2026-10-22T12:00:00Z</dcterms:created>
  <dcterms:modified xsi:type="dcterms:W3CDTF">2026-10-22T12:00:00Z</dcterms:modified>
</cp:coreProperties>
</file>